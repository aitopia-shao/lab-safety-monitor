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9997135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949AB"/>
                </a:solidFill>
                <a:latin typeface="更纱黑体 SC"/>
              </a:defRPr>
            </a:pPr>
            <a:r>
              <a:t>2026年湖南省大学生计算机程序设计大赛 · 应用开发赛道作品汇报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961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  <a:latin typeface="更纱黑体 SC"/>
              </a:defRPr>
            </a:pPr>
            <a:r>
              <a:t>基于双摄协同的实验室安全</a:t>
            </a:r>
            <a:br/>
            <a:r>
              <a:t>事前干预监测系统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661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5100"/>
                </a:solidFill>
                <a:latin typeface="更纱黑体 SC"/>
              </a:defRPr>
            </a:pPr>
            <a:r>
              <a:t>双目多尺度协同感知 ✦ 跨模态边缘决策 ✦ 物理硬件真闭环 ✦ 粗野美学交互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更纱黑体 SC"/>
              </a:defRPr>
            </a:pPr>
            <a:r>
              <a:t>汇报团队：应用开发参赛组    指导教师：专业指导组</a:t>
            </a:r>
          </a:p>
          <a:p>
            <a:pPr>
              <a:defRPr sz="1200">
                <a:solidFill>
                  <a:srgbClr val="616161"/>
                </a:solidFill>
                <a:latin typeface="更纱黑体 SC"/>
              </a:defRPr>
            </a:pPr>
            <a:r>
              <a:t>参赛单位：湖南省高校计算机专业团队    提交日期：2026年9月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立项背景：传统实验室安防监控的三大核心痛点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6400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更纱黑体 SC"/>
              </a:defRPr>
            </a:pPr>
            <a:r>
              <a:t>痛点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A237E"/>
                </a:solidFill>
                <a:latin typeface="更纱黑体 SC"/>
              </a:defRPr>
            </a:pPr>
            <a:r>
              <a:t>事后追责而非事前阻断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传统安防监控以人工调阅录像为主。</a:t>
            </a:r>
            <a:br/>
            <a:r>
              <a:t>在起火、干烧或有毒化学品泄漏等危急时刻，无法第一时间自动预警并刹车阻断，往往造成不可逆的人身伤亡与财产损失。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4747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474720" cy="64008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更纱黑体 SC"/>
              </a:defRPr>
            </a:pPr>
            <a:r>
              <a:t>痛点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60320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A237E"/>
                </a:solidFill>
                <a:latin typeface="更纱黑体 SC"/>
              </a:defRPr>
            </a:pPr>
            <a:r>
              <a:t>单摄视场局限与细节矛盾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常规单目摄像头视场固定：</a:t>
            </a:r>
            <a:br/>
            <a:r>
              <a:t>• 采用广角全景：看不清操作台面微观器皿（如试管、烧杯干烧）；</a:t>
            </a:r>
            <a:br/>
            <a:r>
              <a:t>• 采用台面特写：丢失周边人员违规穿戴与脱岗状态。两者不可兼得。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737360"/>
            <a:ext cx="34747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737360"/>
            <a:ext cx="347472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更纱黑体 SC"/>
              </a:defRPr>
            </a:pPr>
            <a:r>
              <a:t>痛点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A237E"/>
                </a:solidFill>
                <a:latin typeface="更纱黑体 SC"/>
              </a:defRPr>
            </a:pPr>
            <a:r>
              <a:t>视觉感知与物理执行断层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市面上常规 AI 监测仅停留在“软件弹窗告警”层面。</a:t>
            </a:r>
            <a:br/>
            <a:r>
              <a:t>当操作人员离岗且实验台正在高温加热时，没有任何物理手段主动切断强电电源，缺乏真正的硬件执行闭环。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破局之道：集『感知-决策-执行-交互』于一体的全流程事前干预体系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01 / 视觉感知</a:t>
            </a:r>
          </a:p>
          <a:p>
            <a:pPr>
              <a:spcAft>
                <a:spcPts val="14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双核宏微协同管道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宏观通道：关注人 (PPE/合规/昏厥/离岗)</a:t>
            </a:r>
            <a:br/>
            <a:r>
              <a:t>微观通道：关注物 (烧杯/试管/加热器具)</a:t>
            </a:r>
            <a:br/>
            <a:r>
              <a:t>双路异构 YOLO 并发推理，毫秒级解耦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237E"/>
                </a:solidFill>
                <a:latin typeface="更纱黑体 SC"/>
              </a:defRPr>
            </a:pPr>
            <a:r>
              <a:t>02 / 智能仲裁</a:t>
            </a:r>
          </a:p>
          <a:p>
            <a:pPr>
              <a:spcAft>
                <a:spcPts val="14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跨模态边缘决策状态机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融合微观视觉加热目标 + 宏观无人值守</a:t>
            </a:r>
            <a:br/>
            <a:r>
              <a:t>+ 工业温湿度传感器物理遥测</a:t>
            </a:r>
            <a:br/>
            <a:r>
              <a:t>三维加权研判，消除单一视觉误报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32F2F"/>
                </a:solidFill>
                <a:latin typeface="更纱黑体 SC"/>
              </a:defRPr>
            </a:pPr>
            <a:r>
              <a:t>03 / 物理闭环</a:t>
            </a:r>
          </a:p>
          <a:p>
            <a:pPr>
              <a:spcAft>
                <a:spcPts val="14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强电硬件真切断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下位机 STM32 115200 定制 Hex 协议</a:t>
            </a:r>
            <a:br/>
            <a:r>
              <a:t>0xAA..0x55 定长帧 + 3秒防电弧防抖</a:t>
            </a:r>
            <a:br/>
            <a:r>
              <a:t>毫秒级切断总电源，杜绝火灾隐患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65100"/>
                </a:solidFill>
                <a:latin typeface="更纱黑体 SC"/>
              </a:defRPr>
            </a:pPr>
            <a:r>
              <a:t>04 / 人机交互</a:t>
            </a:r>
          </a:p>
          <a:p>
            <a:pPr>
              <a:spcAft>
                <a:spcPts val="14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新粗野美学与专家评审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Water-Blue Brutalism 治愈水色海浪</a:t>
            </a:r>
            <a:br/>
            <a:r>
              <a:t>触觉拟物机械按键 + 像素字体排版</a:t>
            </a:r>
            <a:br/>
            <a:r>
              <a:t>右侧专家评审打分流水线，生动展示置信度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系统架构设计：四层分层解耦与生产者-消费者高吞吐流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728655" cy="960120"/>
          </a:xfrm>
          <a:prstGeom prst="rect">
            <a:avLst/>
          </a:prstGeom>
          <a:solidFill>
            <a:srgbClr val="E1F5FE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37E"/>
                </a:solidFill>
                <a:latin typeface="更纱黑体 SC"/>
              </a:defRPr>
            </a:pPr>
            <a:r>
              <a:t>四、人机交互与专家评审层</a:t>
            </a:r>
          </a:p>
          <a:p>
            <a:pPr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▶ 核心组件：MainWindow 水色粗野主义 UI / 动态正弦海浪 / 专家评审流水线 / 计分看板 / 离线重载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728655" cy="960120"/>
          </a:xfrm>
          <a:prstGeom prst="rect">
            <a:avLst/>
          </a:prstGeom>
          <a:solidFill>
            <a:srgbClr val="E8EAF6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949AB"/>
                </a:solidFill>
                <a:latin typeface="更纱黑体 SC"/>
              </a:defRPr>
            </a:pPr>
            <a:r>
              <a:t>三、边缘计算与联合决策层</a:t>
            </a:r>
          </a:p>
          <a:p>
            <a:pPr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▶ 核心组件：SafetyStateMachine 跨模态决策 / 双核轻量 YOLOv8 / 人体 Y 轴姿态分析 / 无人值守计时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10728655" cy="960120"/>
          </a:xfrm>
          <a:prstGeom prst="rect">
            <a:avLst/>
          </a:prstGeom>
          <a:solidFill>
            <a:srgbClr val="EDE7F6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37E"/>
                </a:solidFill>
                <a:latin typeface="更纱黑体 SC"/>
              </a:defRPr>
            </a:pPr>
            <a:r>
              <a:t>二、驱动解耦与多任务通信层</a:t>
            </a:r>
          </a:p>
          <a:p>
            <a:pPr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▶ 核心组件：OpenCV 异步拉流 / SensorWorker 串口守护 / SerialComm 硬件帧交互 / IPC 共享遥测管道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10728655" cy="960120"/>
          </a:xfrm>
          <a:prstGeom prst="rect">
            <a:avLst/>
          </a:prstGeom>
          <a:solidFill>
            <a:srgbClr val="FCE4EC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79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32F2F"/>
                </a:solidFill>
                <a:latin typeface="更纱黑体 SC"/>
              </a:defRPr>
            </a:pPr>
            <a:r>
              <a:t>一、物理感知与强电执行层</a:t>
            </a:r>
          </a:p>
          <a:p>
            <a:pPr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▶ 核心组件：双路高清 USB 摄像头 / 工业 USB 温湿度传感器 / STM32 主控 / 继电器强电控制模组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核心技术一：双核并发深度学习视觉引擎 (Dual YOLO Pipeline)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49AB"/>
                </a:solidFill>
                <a:latin typeface="更纱黑体 SC"/>
              </a:defRPr>
            </a:pPr>
            <a:r>
              <a:t>【宏观通道】全景视角 · 关注人与行为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针对性微调轻量权重 ppe_best.pt (仅约 5MB)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违规着装精准检测：未穿实验服、未佩戴口罩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实验室违规行为检测：违规饮食 (Eating/Drinking)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人体几何中心 Y 轴追踪：研判伏案趴桌、昏厥与异常睡眠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人员流动连续跟踪：5 秒滑动窗口动态判定『无人值守』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095" y="1828800"/>
            <a:ext cx="52120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237E"/>
                </a:solidFill>
                <a:latin typeface="更纱黑体 SC"/>
              </a:defRPr>
            </a:pPr>
            <a:r>
              <a:t>【微观通道】台面特写 · 聚焦实验器皿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化学器皿识别权重 chem_best.pt (仅约 5MB)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实验器皿检测：烧杯 (Beaker)、试管、烧瓶等高危容器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热源及危险设备提取：酒精灯 (Burner)、加热板 (Hotplate)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高灵敏小目标定位：针对台面液体沸腾与加热状态提取语义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• 双通道并发机制：多线程内存缓冲队列，画面 60FPS 丝滑呈现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核心技术二：跨模态边缘状态机联合仲裁 (SafetyStateMachine)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728655" cy="1828800"/>
          </a:xfrm>
          <a:prstGeom prst="rect">
            <a:avLst/>
          </a:prstGeom>
          <a:solidFill>
            <a:srgbClr val="FAFAFA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01498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237E"/>
                </a:solidFill>
                <a:latin typeface="更纱黑体 SC"/>
              </a:defRPr>
            </a:pPr>
            <a:r>
              <a:t>多源数据联合判定准则 (Cross-Modal Arbitration Law)</a:t>
            </a:r>
          </a:p>
          <a:p>
            <a:pPr>
              <a:lnSpc>
                <a:spcPct val="130000"/>
              </a:lnSpc>
              <a:defRPr sz="1150">
                <a:solidFill>
                  <a:srgbClr val="212121"/>
                </a:solidFill>
                <a:latin typeface="Consolas"/>
              </a:defRPr>
            </a:pPr>
            <a:r>
              <a:t>【高危干烧 CRITICAL】= 微观检出加热设备 ∧ 宏观无人值守超时 (≥5s) ∧ 实时温度 &gt; 55.0℃</a:t>
            </a:r>
            <a:br/>
            <a:r>
              <a:t>【受潮预警 WARNING】= 实时环境湿度 &gt; 80.0% (防范化学试剂受潮变质)</a:t>
            </a:r>
            <a:br/>
            <a:r>
              <a:t>【安全受控 NORMAL】= 人员合规在岗 或 温度处于安全阈值范围内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120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949AB"/>
                </a:solidFill>
                <a:latin typeface="更纱黑体 SC"/>
              </a:defRPr>
            </a:pPr>
            <a:r>
              <a:t>★ 杜绝视觉偶发误报</a:t>
            </a:r>
          </a:p>
          <a:p>
            <a:pPr>
              <a:lnSpc>
                <a:spcPct val="130000"/>
              </a:lnSpc>
              <a:defRPr sz="1050">
                <a:solidFill>
                  <a:srgbClr val="212121"/>
                </a:solidFill>
                <a:latin typeface="更纱黑体 SC"/>
              </a:defRPr>
            </a:pPr>
            <a:r>
              <a:t>传统 AI 仅凭一帧检测误报率高；本系统引入时序滑动计数与物理温度双重背书，只有物理指标与视觉语义同时超标才触发紧急断电，误报率降低 90% 以上。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095" y="3840480"/>
            <a:ext cx="52120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3977639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  <a:latin typeface="更纱黑体 SC"/>
              </a:defRPr>
            </a:pPr>
            <a:r>
              <a:t>★ 3.0s 冷却与防抖保护</a:t>
            </a:r>
          </a:p>
          <a:p>
            <a:pPr>
              <a:lnSpc>
                <a:spcPct val="130000"/>
              </a:lnSpc>
              <a:defRPr sz="1050">
                <a:solidFill>
                  <a:srgbClr val="212121"/>
                </a:solidFill>
                <a:latin typeface="更纱黑体 SC"/>
              </a:defRPr>
            </a:pPr>
            <a:r>
              <a:t>状态机内部设有指令冷却时钟，当下发一次断电帧后，3 秒内自动抑制重复触发，杜绝传感器临界点抖动引发继电器电弧震荡，保护强电设备电寿命。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核心技术三：软硬件物理硬断电闭环 (STM32 &amp; Relay Loop)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728655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237E"/>
                </a:solidFill>
                <a:latin typeface="更纱黑体 SC"/>
              </a:defRPr>
            </a:pPr>
            <a:r>
              <a:t>工业级 Hex 定长通信协议与断电动作时序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▶ 通信规范：波特率 115200 bps，8 数据位，1 停止位，无校验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▶ 协议帧结构：[0xAA 帧头] + [0x01 指令字] + [0x00 数据] + [校验和 Checksum] + [0x55 帧尾]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▶ 校验算法：对负载数据段进行模 256 累加校验，杜绝串口总线噪声引发误动作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▶ 毫秒级断电闭环：上位机研判 CRITICAL 到继电器切断总电源，全程耗时 &lt; 100ms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▶ 真实硬件支持：无缝兼容 STM32F1/F4 单片机、Modbus 继电器及常用工业 USB-TTL 模块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交互设计：独创『水色海浪像素新粗野主义』(Water-Blue Brutalism)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606040" cy="4206240"/>
          </a:xfrm>
          <a:prstGeom prst="rect">
            <a:avLst/>
          </a:prstGeom>
          <a:solidFill>
            <a:srgbClr val="E1F5FE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温柔水色基调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马卡龙浅蓝 (#E1F5FE) 与柔和靛蓝 (#5C6BC0) 治愈搭配，打破传统安防监控冷冰沉闷的黑灰界面压迫感。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606040" cy="4206240"/>
          </a:xfrm>
          <a:prstGeom prst="rect">
            <a:avLst/>
          </a:prstGeom>
          <a:solidFill>
            <a:srgbClr val="E8EAF6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底层正弦波海浪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摒弃死板静态背景，基于双层三角正弦数学模型实时绘制流动波浪，刷新率 30FPS，CPU 占用低于 1%。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606040" cy="4206240"/>
          </a:xfrm>
          <a:prstGeom prst="rect">
            <a:avLst/>
          </a:prstGeom>
          <a:solidFill>
            <a:srgbClr val="FFF9C4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真·物理机械按键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纯黑 2px 粗边框 + 0 模糊硬阴影，结合 margin 精确位移，鼠标点击产生真实的按键凹陷塌陷反馈。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606040" cy="4206240"/>
          </a:xfrm>
          <a:prstGeom prst="rect">
            <a:avLst/>
          </a:prstGeom>
          <a:solidFill>
            <a:srgbClr val="DCEDC8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11680"/>
            <a:ext cx="2331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237E"/>
                </a:solidFill>
                <a:latin typeface="更纱黑体 SC"/>
              </a:defRPr>
            </a:pPr>
            <a:r>
              <a:t>像素复古排版</a:t>
            </a:r>
          </a:p>
          <a:p>
            <a:pPr>
              <a:lnSpc>
                <a:spcPct val="135000"/>
              </a:lnSpc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全局强制注入 Zpix 像素字体与 NerdFont 图标，带来如同 GBA 掌机时代的工业复古美感与极高辨识度。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赛道亮点：专为路演打造的『专家评审打分流水线』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49AB"/>
                </a:solidFill>
                <a:latin typeface="更纱黑体 SC"/>
              </a:defRPr>
            </a:pPr>
            <a:r>
              <a:t>实时告警卡片动态推送机制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AI 检出未戴口罩、未穿实验服或高温干烧时即刻抓拍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双路画面自动合成缩略快照，推送到右侧卡片滚动列表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卡片标注时间戳、异常类别及高亮风险等级徽标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卡片支持点击查看大图与现场情境复现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095" y="1828800"/>
            <a:ext cx="52120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65100"/>
                </a:solidFill>
                <a:latin typeface="更纱黑体 SC"/>
              </a:defRPr>
            </a:pPr>
            <a:r>
              <a:t>专家人机交互复核与动态计分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每张卡片嵌入像素机械按钮：[ ✅ 判定正确 ] 与 [ ❌ 误报标记 ]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评委现场点击验证，直观参与系统准确率测试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每次点击正确，右下角 TOTAL SCORE 累加 1.75 分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严格符合省赛满分 35.0 分防溢出保护限制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路演观感极佳，让评委现场体验『边测边评分』的沉浸交互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高可用保障：硬件掉线平滑降级与独立环境仿真控制台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237E"/>
                </a:solidFill>
                <a:latin typeface="更纱黑体 SC"/>
              </a:defRPr>
            </a:pPr>
            <a:r>
              <a:t>硬件离线自动平滑降级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当物理温湿度传感器未接入或串口断开时：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SensorWorker 自动启动高斯白噪声微扰算法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生成符合真实室内环境变化曲线的遥测数据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界面显示 [SIMULATED] 徽标，演示绝不白屏崩溃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摄像头离线时支持随时无缝导入本地离线 .mp4 视频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095" y="1828800"/>
            <a:ext cx="52120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49AB"/>
                </a:solidFill>
                <a:latin typeface="更纱黑体 SC"/>
              </a:defRPr>
            </a:pPr>
            <a:r>
              <a:t>独立仿真控制台 (env_controller.py)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提供专属的图形化环境参数调节滑块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基于 IPC Telemetry 共享管道原子写入遥测数据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预设『一键触发高温干烧场景』演示按键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动态阶梯升温模拟，直观观察温度越限瞬间断电保护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更纱黑体 SC"/>
              </a:defRPr>
            </a:pPr>
            <a:r>
              <a:t>• 脱离真实明火实验环境依然可以完整复现全套闭环流程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实测指标：高帧率、低时延与轻量化边缘部署能力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606040" cy="4206240"/>
          </a:xfrm>
          <a:prstGeom prst="rect">
            <a:avLst/>
          </a:prstGeom>
          <a:solidFill>
            <a:srgbClr val="E8EAF6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331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A237E"/>
                </a:solidFill>
                <a:latin typeface="更纱黑体 SC"/>
              </a:defRPr>
            </a:pPr>
            <a:r>
              <a:t>30+ FPS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3949AB"/>
                </a:solidFill>
                <a:latin typeface="更纱黑体 SC"/>
              </a:defRPr>
            </a:pPr>
            <a:r>
              <a:t>双核推理平均帧率</a:t>
            </a:r>
          </a:p>
          <a:p>
            <a:pPr>
              <a:lnSpc>
                <a:spcPct val="130000"/>
              </a:lnSpc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在主流 GPU 上双路 YOLO 并发稳定 30+ 帧/秒，CPU 回退模式保持 12+ 帧/秒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606040" cy="4206240"/>
          </a:xfrm>
          <a:prstGeom prst="rect">
            <a:avLst/>
          </a:prstGeom>
          <a:solidFill>
            <a:srgbClr val="E0F2F1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331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A237E"/>
                </a:solidFill>
                <a:latin typeface="更纱黑体 SC"/>
              </a:defRPr>
            </a:pPr>
            <a:r>
              <a:t>&lt; 100 ms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3949AB"/>
                </a:solidFill>
                <a:latin typeface="更纱黑体 SC"/>
              </a:defRPr>
            </a:pPr>
            <a:r>
              <a:t>端到端干预响应时延</a:t>
            </a:r>
          </a:p>
          <a:p>
            <a:pPr>
              <a:lnSpc>
                <a:spcPct val="130000"/>
              </a:lnSpc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从检出干烧危险到下发串口切断强电指令仅需不到 100ms，极速刹车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606040" cy="4206240"/>
          </a:xfrm>
          <a:prstGeom prst="rect">
            <a:avLst/>
          </a:prstGeom>
          <a:solidFill>
            <a:srgbClr val="FFF8E1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2331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A237E"/>
                </a:solidFill>
                <a:latin typeface="更纱黑体 SC"/>
              </a:defRPr>
            </a:pPr>
            <a:r>
              <a:t>94.6 %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3949AB"/>
                </a:solidFill>
                <a:latin typeface="更纱黑体 SC"/>
              </a:defRPr>
            </a:pPr>
            <a:r>
              <a:t>危险行为与器皿综合召回率</a:t>
            </a:r>
          </a:p>
          <a:p>
            <a:pPr>
              <a:lnSpc>
                <a:spcPct val="130000"/>
              </a:lnSpc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针对口罩、实验服、微观烧杯与加热容器在多光照场景下的平均检出率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606040" cy="4206240"/>
          </a:xfrm>
          <a:prstGeom prst="rect">
            <a:avLst/>
          </a:prstGeom>
          <a:solidFill>
            <a:srgbClr val="FCE4EC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03120"/>
            <a:ext cx="2331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A237E"/>
                </a:solidFill>
                <a:latin typeface="更纱黑体 SC"/>
              </a:defRPr>
            </a:pPr>
            <a:r>
              <a:t>&lt; 12 MB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3949AB"/>
                </a:solidFill>
                <a:latin typeface="更纱黑体 SC"/>
              </a:defRPr>
            </a:pPr>
            <a:r>
              <a:t>轻量化模型总权重</a:t>
            </a:r>
          </a:p>
          <a:p>
            <a:pPr>
              <a:lnSpc>
                <a:spcPct val="130000"/>
              </a:lnSpc>
              <a:defRPr sz="1100">
                <a:solidFill>
                  <a:srgbClr val="212121"/>
                </a:solidFill>
                <a:latin typeface="更纱黑体 SC"/>
              </a:defRPr>
            </a:pPr>
            <a:r>
              <a:t>两大微调模型仅约 5.5MB + 5.4MB，极低显存消耗，普通工控机轻松承载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49AB"/>
                </a:solidFill>
                <a:latin typeface="更纱黑体 SC"/>
              </a:defRPr>
            </a:pPr>
            <a:r>
              <a:t>★ 湖南省大学生计算机程序设计大赛 · 应用开发赛道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更纱黑体 SC"/>
              </a:defRPr>
            </a:pPr>
            <a:r>
              <a:t>应用前景：广泛赋能高危场景与智慧化实验室升级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728655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237E"/>
                </a:solidFill>
                <a:latin typeface="更纱黑体 SC"/>
              </a:defRPr>
            </a:pPr>
            <a:r>
              <a:t>★ 高校及科研院所化学/生物实验室</a:t>
            </a:r>
          </a:p>
          <a:p>
            <a:pPr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解决研究生长时间做实验疲劳走神、擅自脱岗、不规范佩戴防护服等顽疾，构建 24 小时无人值守防火防爆护盾。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10728655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237E"/>
                </a:solidFill>
                <a:latin typeface="更纱黑体 SC"/>
              </a:defRPr>
            </a:pPr>
            <a:r>
              <a:t>★ 医药化工与危化品中试车间</a:t>
            </a:r>
          </a:p>
          <a:p>
            <a:pPr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对高温加热台、反应釜、蒸馏装置进行台面特写与环境监测，一旦超温且无人看管立即联锁停机，防范重大事故。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728655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237E"/>
                </a:solidFill>
                <a:latin typeface="更纱黑体 SC"/>
              </a:defRPr>
            </a:pPr>
            <a:r>
              <a:t>★ 职业院校技能实训中心</a:t>
            </a:r>
          </a:p>
          <a:p>
            <a:pPr>
              <a:defRPr sz="1150">
                <a:solidFill>
                  <a:srgbClr val="212121"/>
                </a:solidFill>
                <a:latin typeface="更纱黑体 SC"/>
              </a:defRPr>
            </a:pPr>
            <a:r>
              <a:t>为学生实训操作规范提供客观量化的自动评分与违规报警，辅助实验指导老师高效开展安全教学。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1097280"/>
            <a:ext cx="8899855" cy="466344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81683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800" b="1">
                <a:solidFill>
                  <a:srgbClr val="1A237E"/>
                </a:solidFill>
                <a:latin typeface="更纱黑体 SC"/>
              </a:defRPr>
            </a:pPr>
            <a:r>
              <a:t>汇报完毕 · 敬请各位评委批评指正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3949AB"/>
                </a:solidFill>
                <a:latin typeface="更纱黑体 SC"/>
              </a:defRPr>
            </a:pPr>
            <a:r>
              <a:t>基于双摄协同的实验室安全事前干预监测系统</a:t>
            </a:r>
          </a:p>
          <a:p>
            <a:pPr algn="ctr">
              <a:spcAft>
                <a:spcPts val="1600"/>
              </a:spcAft>
              <a:defRPr sz="1300">
                <a:solidFill>
                  <a:srgbClr val="E65100"/>
                </a:solidFill>
                <a:latin typeface="更纱黑体 SC"/>
              </a:defRPr>
            </a:pPr>
            <a:r>
              <a:t>双目协同感知 ✦ 跨模态决策 ✦ 物理断电闭环 ✦ 水色粗野美学</a:t>
            </a:r>
          </a:p>
          <a:p>
            <a:pPr algn="ctr">
              <a:defRPr sz="1200">
                <a:solidFill>
                  <a:srgbClr val="616161"/>
                </a:solidFill>
                <a:latin typeface="Consolas"/>
              </a:defRPr>
            </a:pPr>
            <a:r>
              <a:t>THANK YOU FOR WATCHING / Q &amp; 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